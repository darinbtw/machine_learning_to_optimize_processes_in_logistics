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304" r:id="rId4"/>
    <p:sldId id="29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76" d="100"/>
          <a:sy n="76" d="100"/>
        </p:scale>
        <p:origin x="792" y="96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svg"/><Relationship Id="rId4" Type="http://schemas.openxmlformats.org/officeDocument/2006/relationships/image" Target="../media/image23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1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8"/>
            <a:ext cx="7953375" cy="1211813"/>
          </a:xfrm>
        </p:spPr>
        <p:txBody>
          <a:bodyPr/>
          <a:lstStyle/>
          <a:p>
            <a:r>
              <a:rPr lang="ru-RU" sz="4000" dirty="0"/>
              <a:t>«</a:t>
            </a:r>
            <a:r>
              <a:rPr lang="ru-RU" sz="4000" i="1" dirty="0"/>
              <a:t>Разработка программного комплекса для оптимизации маршрутов доставки на основе алгоритма "Ближайшего соседа" и его сравнительный анализ с другими жадными алгоритмами</a:t>
            </a:r>
            <a:r>
              <a:rPr lang="ru-RU" sz="4000" dirty="0"/>
              <a:t>»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697560" y="686402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Коновалов Игорь Васильевич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697560" y="5720546"/>
            <a:ext cx="79533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Подъячев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Владислав Алексеевич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 ИСП - 21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F6C09FF-315A-4A2F-B156-7F7D75862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1204C7-436F-8EAD-B660-A2EC40707A74}"/>
              </a:ext>
            </a:extLst>
          </p:cNvPr>
          <p:cNvSpPr txBox="1"/>
          <p:nvPr/>
        </p:nvSpPr>
        <p:spPr>
          <a:xfrm>
            <a:off x="901700" y="3746500"/>
            <a:ext cx="4902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Цель</a:t>
            </a:r>
          </a:p>
          <a:p>
            <a:endParaRPr lang="ru-RU" sz="3200" dirty="0"/>
          </a:p>
          <a:p>
            <a:r>
              <a:rPr lang="ru-RU" sz="3200" dirty="0"/>
              <a:t>Создание программного инструмента для автоматизации маршрутизации и оценки эффективности алгоритмов.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2430D-6CB1-D124-BB81-814A1768F31E}"/>
              </a:ext>
            </a:extLst>
          </p:cNvPr>
          <p:cNvSpPr txBox="1"/>
          <p:nvPr/>
        </p:nvSpPr>
        <p:spPr>
          <a:xfrm>
            <a:off x="6692900" y="3746500"/>
            <a:ext cx="4902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Разработка</a:t>
            </a:r>
          </a:p>
          <a:p>
            <a:endParaRPr lang="ru-RU" sz="3200" dirty="0"/>
          </a:p>
          <a:p>
            <a:r>
              <a:rPr lang="ru-RU" sz="3200" dirty="0"/>
              <a:t>Реализация аналитического модуля на </a:t>
            </a:r>
            <a:r>
              <a:rPr lang="en-US" sz="3200" dirty="0"/>
              <a:t>Python </a:t>
            </a:r>
            <a:r>
              <a:rPr lang="ru-RU" sz="3200" dirty="0"/>
              <a:t>и веб-интерфейса «Навигатор </a:t>
            </a:r>
            <a:r>
              <a:rPr lang="en-US" sz="3200" dirty="0"/>
              <a:t>AI</a:t>
            </a:r>
            <a:r>
              <a:rPr lang="ru-RU" sz="3200" dirty="0"/>
              <a:t>» на </a:t>
            </a:r>
            <a:r>
              <a:rPr lang="en-US" sz="3200" dirty="0"/>
              <a:t>JavaScript</a:t>
            </a:r>
            <a:endParaRPr lang="ru-RU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8E8F8-2F67-C771-47DD-3A438083E7B9}"/>
              </a:ext>
            </a:extLst>
          </p:cNvPr>
          <p:cNvSpPr txBox="1"/>
          <p:nvPr/>
        </p:nvSpPr>
        <p:spPr>
          <a:xfrm>
            <a:off x="12484100" y="3746499"/>
            <a:ext cx="49022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Анализ</a:t>
            </a:r>
          </a:p>
          <a:p>
            <a:endParaRPr lang="ru-RU" sz="3200" dirty="0"/>
          </a:p>
          <a:p>
            <a:r>
              <a:rPr lang="ru-RU" sz="3200" dirty="0"/>
              <a:t>Сравнительный анализ алгоритма </a:t>
            </a:r>
            <a:r>
              <a:rPr lang="en-US" sz="3200" dirty="0"/>
              <a:t>NN </a:t>
            </a:r>
            <a:r>
              <a:rPr lang="ru-RU" sz="3200" dirty="0"/>
              <a:t>с альтернативными жадными методами и постобработкой </a:t>
            </a:r>
            <a:r>
              <a:rPr lang="en-US" sz="3200" dirty="0"/>
              <a:t>2-opt</a:t>
            </a:r>
            <a:endParaRPr lang="ru-RU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F6E9-28BD-47D2-AAAF-2DDB057A1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оптимизации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504C27-FD0D-459C-B6C6-F83F53CD625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64814B9-1C41-4ECD-81DD-4B924F9C2D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55471" y="2000293"/>
            <a:ext cx="7651750" cy="6286413"/>
          </a:xfrm>
        </p:spPr>
        <p:txBody>
          <a:bodyPr/>
          <a:lstStyle/>
          <a:p>
            <a:pPr algn="just"/>
            <a:r>
              <a:rPr lang="ru-RU" b="1" dirty="0" err="1"/>
              <a:t>Nearest</a:t>
            </a:r>
            <a:r>
              <a:rPr lang="ru-RU" b="1" dirty="0"/>
              <a:t> </a:t>
            </a:r>
            <a:r>
              <a:rPr lang="ru-RU" b="1" dirty="0" err="1"/>
              <a:t>Neighbor</a:t>
            </a:r>
            <a:r>
              <a:rPr lang="ru-RU" b="1" dirty="0"/>
              <a:t> (NN):</a:t>
            </a:r>
            <a:r>
              <a:rPr lang="ru-RU" dirty="0"/>
              <a:t> поиск ближайшей </a:t>
            </a:r>
            <a:r>
              <a:rPr lang="ru-RU" dirty="0" err="1"/>
              <a:t>непосещенной</a:t>
            </a:r>
            <a:r>
              <a:rPr lang="ru-RU" dirty="0"/>
              <a:t> точки на каждом шаге. </a:t>
            </a:r>
          </a:p>
          <a:p>
            <a:pPr algn="just"/>
            <a:r>
              <a:rPr lang="ru-RU" b="1" dirty="0"/>
              <a:t>2-opt </a:t>
            </a:r>
            <a:r>
              <a:rPr lang="ru-RU" b="1" dirty="0" err="1"/>
              <a:t>Heuristic</a:t>
            </a:r>
            <a:r>
              <a:rPr lang="ru-RU" b="1" dirty="0"/>
              <a:t>:</a:t>
            </a:r>
            <a:r>
              <a:rPr lang="ru-RU" dirty="0"/>
              <a:t> устранение самопересечений маршрута путем переворота </a:t>
            </a:r>
            <a:r>
              <a:rPr lang="ru-RU" dirty="0" err="1"/>
              <a:t>подотрезков</a:t>
            </a:r>
            <a:r>
              <a:rPr lang="ru-RU" dirty="0"/>
              <a:t>.</a:t>
            </a:r>
          </a:p>
          <a:p>
            <a:pPr algn="just"/>
            <a:r>
              <a:rPr lang="ru-RU" b="1" dirty="0"/>
              <a:t>Гарантии качества:</a:t>
            </a:r>
            <a:r>
              <a:rPr lang="ru-RU" dirty="0"/>
              <a:t> для метрических задач отклонение NN составляет около 20-25% от оптимума.</a:t>
            </a:r>
          </a:p>
          <a:p>
            <a:pPr algn="just"/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5514392" y="429208"/>
            <a:ext cx="7259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3844</TotalTime>
  <Words>211</Words>
  <Application>Microsoft Office PowerPoint</Application>
  <PresentationFormat>Произвольный</PresentationFormat>
  <Paragraphs>35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Цель и задачи работы</vt:lpstr>
      <vt:lpstr>Методы оптимизации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dae lee</cp:lastModifiedBy>
  <cp:revision>84</cp:revision>
  <dcterms:created xsi:type="dcterms:W3CDTF">2025-10-16T18:17:35Z</dcterms:created>
  <dcterms:modified xsi:type="dcterms:W3CDTF">2026-05-31T10:58:01Z</dcterms:modified>
</cp:coreProperties>
</file>